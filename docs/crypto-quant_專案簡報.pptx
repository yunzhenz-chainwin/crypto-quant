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C7DC8C-E168-FAB6-F7BB-0DC942B6B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BE16B19-9CDC-9031-10AC-54A1A9C47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5603F2-7C5D-AE83-2940-618899E88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276680-0DCA-7D32-A6B7-829C6A63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945CFF-2BC8-F436-048F-D03773ADB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556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CBD4CE-1966-8018-C2A4-4C0A9847D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975B7A-F843-A5F0-0B4A-DDF586A79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F1D74D-FB36-E4FD-F5F3-3C2D7E36F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FF31B4-A515-2B60-7707-A542FFFC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2410E-DCB1-C0D5-6991-0C937DA92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679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5C8941-7EAA-6674-AB96-717452AC7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21A6813-75B8-4AB9-34BC-CDB0ED2A4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AADE09-CC54-EBC0-F706-E6DEE033D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1D5C2B-DCF1-C62C-ADDD-EA511045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216957-A5A7-BBFF-D9EB-4F5AF9BE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8455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DD2CB-CF22-AE97-B457-EE2C3571B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D1C9F7-3B37-66EA-A246-9C08B5CB5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6C9E5B-08AC-C333-95AA-5BAA4C1E0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C1D57C-1DED-D216-1C4D-E70ABEB9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F712F7-07F5-80D6-847E-1B9C529B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A79AECC-EA53-6B1A-45A6-79A1EC1E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8362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14F8E6-57DD-47EA-4E2E-2B35F9822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660E5F-8ACD-AA14-B7E0-CB338FBA3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6BD63AE-DAB6-0B46-6B37-30B97EDE4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92A246-76F2-53CA-A528-4E5DCEBD1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6BE0A66-1D4B-410C-8896-B1F779D59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AB3FA72-B12A-19D7-D307-37C713F64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2FD73BF-AA40-1D24-9231-B99572E2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A475A1D-BB4C-CF60-A3D0-A6AE5815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8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6460EC-3A60-F7FF-B9A9-0D7E168AC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F8BE36E-4CED-6067-31AA-EE6334FFA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ABD6ACE-F661-C584-4265-CF1D7364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62F8CAA-32FB-3FD5-381B-9AB0471D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627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4175A45-DB20-6171-71D4-EA2D1C4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51D2BE7-89D9-ED3E-2004-E72A5F2B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5857B2-E997-A49E-1116-6646527C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175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451A89-4FF9-7256-6BEC-1373E33D2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CDB276-AAB4-6905-1835-244EE9A64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58AF07E-DE63-E985-FD73-FEA08E641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6D54F6-3CE9-EAE3-575E-E29EFF60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BE4AC2-051F-8ACB-D423-45DD7B02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718886-3FDE-5540-07E3-6E5283E3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60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28D62B-1B1D-13BC-7729-45A62F5DF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24511DB-3CF1-32DB-A564-FFC47FEFB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18716B-338F-F8FF-7620-8AB8E4800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08A0BA-9CE4-4220-2F8D-A78A2DE4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C9ABFA-50D6-8239-741D-8073ECF3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F9C414-0227-8872-7980-AF96D629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9306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0D3DEE-12A3-0C85-1084-3B86D5971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1A774BD-5847-D33A-F88F-5359FB208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56B6045-D6E5-9C1F-9677-13B6EC51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642BD7-08E5-7DF2-FD19-341EB15E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9FD70C-C225-33CA-DB5A-165893DD6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957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AD7F431-9AE0-3ABB-4303-5A1057551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089909E-7585-2CD8-0332-1F68768F5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FC76B7-0488-3C91-4446-126640A5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73FA97-E63E-69C9-C236-91F1D0A19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289507-8925-FC8B-DC0C-F576871D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829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B5E375B-D0B4-AEE8-905A-5E00BBE5C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FABA6D0-D012-01DC-0E84-F2728EB7B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B5DE51-5CDE-22C4-FB58-FD25FE047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649E7-387B-4164-A6AA-55F95B800C68}" type="datetimeFigureOut">
              <a:rPr lang="zh-TW" altLang="en-US" smtClean="0"/>
              <a:t>2026/7/8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3964FA-CDF9-BF18-6272-C18A800AB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05D6AF-A516-7A03-C112-8B2284978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AFF134-5DF5-43E1-98D7-3D212FF0E6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012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246004-343B-8A54-8A42-2965CE7FA608}"/>
              </a:ext>
            </a:extLst>
          </p:cNvPr>
          <p:cNvSpPr/>
          <p:nvPr/>
        </p:nvSpPr>
        <p:spPr>
          <a:xfrm>
            <a:off x="0" y="0"/>
            <a:ext cx="12192000" cy="20955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5351635-A50A-3338-60F2-698BF119F97F}"/>
              </a:ext>
            </a:extLst>
          </p:cNvPr>
          <p:cNvSpPr txBox="1"/>
          <p:nvPr/>
        </p:nvSpPr>
        <p:spPr>
          <a:xfrm>
            <a:off x="889000" y="698500"/>
            <a:ext cx="9906000" cy="69762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42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</a:t>
            </a:r>
            <a:endParaRPr lang="zh-TW" altLang="en-US" sz="42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FAF520E-1E8A-3B14-9B4F-01CBADE823A0}"/>
              </a:ext>
            </a:extLst>
          </p:cNvPr>
          <p:cNvSpPr txBox="1"/>
          <p:nvPr/>
        </p:nvSpPr>
        <p:spPr>
          <a:xfrm>
            <a:off x="939800" y="1524000"/>
            <a:ext cx="9906000" cy="3129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700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加密貨幣量化分析平台｜文件摘要簡報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668183-7F29-4CEE-E68D-AFAB2D699244}"/>
              </a:ext>
            </a:extLst>
          </p:cNvPr>
          <p:cNvSpPr/>
          <p:nvPr/>
        </p:nvSpPr>
        <p:spPr>
          <a:xfrm>
            <a:off x="889000" y="2857500"/>
            <a:ext cx="3175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39AD2E-FCB7-F250-06F4-4803C6D10833}"/>
              </a:ext>
            </a:extLst>
          </p:cNvPr>
          <p:cNvSpPr/>
          <p:nvPr/>
        </p:nvSpPr>
        <p:spPr>
          <a:xfrm>
            <a:off x="889000" y="2857500"/>
            <a:ext cx="63500" cy="1333500"/>
          </a:xfrm>
          <a:prstGeom prst="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3953FB-E15F-D4BF-B912-0D9AA2BC5B6F}"/>
              </a:ext>
            </a:extLst>
          </p:cNvPr>
          <p:cNvSpPr txBox="1"/>
          <p:nvPr/>
        </p:nvSpPr>
        <p:spPr>
          <a:xfrm>
            <a:off x="1117600" y="30353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文件來源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440725-772C-E10B-E211-C5AC27945BC6}"/>
              </a:ext>
            </a:extLst>
          </p:cNvPr>
          <p:cNvSpPr txBox="1"/>
          <p:nvPr/>
        </p:nvSpPr>
        <p:spPr>
          <a:xfrm>
            <a:off x="1117600" y="34163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README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、訊號增準計畫、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ML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訊號研究、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問答庫、情緒詞庫。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597C49-F43F-D8EB-6BDE-A372CEAE70BF}"/>
              </a:ext>
            </a:extLst>
          </p:cNvPr>
          <p:cNvSpPr/>
          <p:nvPr/>
        </p:nvSpPr>
        <p:spPr>
          <a:xfrm>
            <a:off x="4508500" y="2857500"/>
            <a:ext cx="3175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A4341E-29F3-CE8E-BAC0-558D27634F8C}"/>
              </a:ext>
            </a:extLst>
          </p:cNvPr>
          <p:cNvSpPr/>
          <p:nvPr/>
        </p:nvSpPr>
        <p:spPr>
          <a:xfrm>
            <a:off x="4508500" y="2857500"/>
            <a:ext cx="63500" cy="1333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7765079-79C8-F30D-B76E-5BBCB5BCEA87}"/>
              </a:ext>
            </a:extLst>
          </p:cNvPr>
          <p:cNvSpPr txBox="1"/>
          <p:nvPr/>
        </p:nvSpPr>
        <p:spPr>
          <a:xfrm>
            <a:off x="4737100" y="30353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核心引擎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199B4B4-5ECC-2397-EE64-F09D5A173F4F}"/>
              </a:ext>
            </a:extLst>
          </p:cNvPr>
          <p:cNvSpPr txBox="1"/>
          <p:nvPr/>
        </p:nvSpPr>
        <p:spPr>
          <a:xfrm>
            <a:off x="4737100" y="34163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規則引擎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GPT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深度解讀，並用本地資料錨定。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E80778-C6A9-4285-38AC-0F82E26B5847}"/>
              </a:ext>
            </a:extLst>
          </p:cNvPr>
          <p:cNvSpPr/>
          <p:nvPr/>
        </p:nvSpPr>
        <p:spPr>
          <a:xfrm>
            <a:off x="8128000" y="2857500"/>
            <a:ext cx="3175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18F8DA-168A-C9BE-1FAB-77DCC929843F}"/>
              </a:ext>
            </a:extLst>
          </p:cNvPr>
          <p:cNvSpPr/>
          <p:nvPr/>
        </p:nvSpPr>
        <p:spPr>
          <a:xfrm>
            <a:off x="8128000" y="2857500"/>
            <a:ext cx="63500" cy="13335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9E72C16-F4C7-B437-F09F-7C171BC2F7AD}"/>
              </a:ext>
            </a:extLst>
          </p:cNvPr>
          <p:cNvSpPr txBox="1"/>
          <p:nvPr/>
        </p:nvSpPr>
        <p:spPr>
          <a:xfrm>
            <a:off x="8356600" y="30353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近期主軸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21B8581-C513-E699-1C86-EBF61C39EAEB}"/>
              </a:ext>
            </a:extLst>
          </p:cNvPr>
          <p:cNvSpPr txBox="1"/>
          <p:nvPr/>
        </p:nvSpPr>
        <p:spPr>
          <a:xfrm>
            <a:off x="8356600" y="3416300"/>
            <a:ext cx="27940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把已驗證的防禦型動量策略搬上前台。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9217DE5-B74C-4FD0-13C3-CDF408C81F90}"/>
              </a:ext>
            </a:extLst>
          </p:cNvPr>
          <p:cNvSpPr txBox="1"/>
          <p:nvPr/>
        </p:nvSpPr>
        <p:spPr>
          <a:xfrm>
            <a:off x="914400" y="4953000"/>
            <a:ext cx="10414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本簡報聚焦「決策摘要」，不逐字搬運文件細節。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6EC1EAD-9866-DCB0-A687-CCF2E766A407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1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165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6EF757B-78AD-7D5B-3F1E-47118A290C3B}"/>
              </a:ext>
            </a:extLst>
          </p:cNvPr>
          <p:cNvSpPr txBox="1"/>
          <p:nvPr/>
        </p:nvSpPr>
        <p:spPr>
          <a:xfrm>
            <a:off x="736600" y="431800"/>
            <a:ext cx="10668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一頁看懂：平台定位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B13A690-A7A5-710F-7055-7B94594C284D}"/>
              </a:ext>
            </a:extLst>
          </p:cNvPr>
          <p:cNvSpPr txBox="1"/>
          <p:nvPr/>
        </p:nvSpPr>
        <p:spPr>
          <a:xfrm>
            <a:off x="762000" y="990600"/>
            <a:ext cx="10414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自架資料管線 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量化訊號 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AI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解讀 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管理後台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DB6B4A-3A6E-0BF1-18E3-B39A8E059BBD}"/>
              </a:ext>
            </a:extLst>
          </p:cNvPr>
          <p:cNvSpPr/>
          <p:nvPr/>
        </p:nvSpPr>
        <p:spPr>
          <a:xfrm>
            <a:off x="889000" y="1841500"/>
            <a:ext cx="48895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7A6C92-9994-7FE7-8C8E-3A3D0B12DB53}"/>
              </a:ext>
            </a:extLst>
          </p:cNvPr>
          <p:cNvSpPr/>
          <p:nvPr/>
        </p:nvSpPr>
        <p:spPr>
          <a:xfrm>
            <a:off x="889000" y="1841500"/>
            <a:ext cx="63500" cy="1460500"/>
          </a:xfrm>
          <a:prstGeom prst="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D8A80A5-DA87-9042-6804-0C13AB49FBE7}"/>
              </a:ext>
            </a:extLst>
          </p:cNvPr>
          <p:cNvSpPr txBox="1"/>
          <p:nvPr/>
        </p:nvSpPr>
        <p:spPr>
          <a:xfrm>
            <a:off x="1117600" y="2019300"/>
            <a:ext cx="45339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產品定位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BADADFA-BA81-CA30-D0B2-BE44DC3F9D11}"/>
              </a:ext>
            </a:extLst>
          </p:cNvPr>
          <p:cNvSpPr txBox="1"/>
          <p:nvPr/>
        </p:nvSpPr>
        <p:spPr>
          <a:xfrm>
            <a:off x="1117600" y="2400300"/>
            <a:ext cx="45085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自動抓行情與新聞，計算技術指標與訊號，提供前台市場分析與後台營運管理。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FF0A97-D613-0D5B-29AD-01EFE978E952}"/>
              </a:ext>
            </a:extLst>
          </p:cNvPr>
          <p:cNvSpPr/>
          <p:nvPr/>
        </p:nvSpPr>
        <p:spPr>
          <a:xfrm>
            <a:off x="6413500" y="1841500"/>
            <a:ext cx="48895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B803C2-027D-0F98-DEBC-C0B0E741DD83}"/>
              </a:ext>
            </a:extLst>
          </p:cNvPr>
          <p:cNvSpPr/>
          <p:nvPr/>
        </p:nvSpPr>
        <p:spPr>
          <a:xfrm>
            <a:off x="6413500" y="1841500"/>
            <a:ext cx="63500" cy="1460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3C1747-FA89-5199-40E5-CEAFD7B6D140}"/>
              </a:ext>
            </a:extLst>
          </p:cNvPr>
          <p:cNvSpPr txBox="1"/>
          <p:nvPr/>
        </p:nvSpPr>
        <p:spPr>
          <a:xfrm>
            <a:off x="6642100" y="2019300"/>
            <a:ext cx="45339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核心價值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341F980-AC6F-05F1-0BC2-5265FAFD180F}"/>
              </a:ext>
            </a:extLst>
          </p:cNvPr>
          <p:cNvSpPr txBox="1"/>
          <p:nvPr/>
        </p:nvSpPr>
        <p:spPr>
          <a:xfrm>
            <a:off x="6642100" y="2400300"/>
            <a:ext cx="45085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讓使用者用白話讀懂盤勢；讓管理者追蹤資料、排程、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成本與工作項目。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1FAAB6-910B-E9BF-C03C-AA2D75B29CBF}"/>
              </a:ext>
            </a:extLst>
          </p:cNvPr>
          <p:cNvSpPr/>
          <p:nvPr/>
        </p:nvSpPr>
        <p:spPr>
          <a:xfrm>
            <a:off x="889000" y="3873500"/>
            <a:ext cx="48895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3C4A9A-9CCD-BF1F-5E49-E7C9CEB65C38}"/>
              </a:ext>
            </a:extLst>
          </p:cNvPr>
          <p:cNvSpPr/>
          <p:nvPr/>
        </p:nvSpPr>
        <p:spPr>
          <a:xfrm>
            <a:off x="889000" y="3873500"/>
            <a:ext cx="63500" cy="14605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CAE1141-3749-24FE-C5D7-4B014AB2612B}"/>
              </a:ext>
            </a:extLst>
          </p:cNvPr>
          <p:cNvSpPr txBox="1"/>
          <p:nvPr/>
        </p:nvSpPr>
        <p:spPr>
          <a:xfrm>
            <a:off x="1117600" y="4051300"/>
            <a:ext cx="45339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誠實聲明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8A52D11-2755-5753-0A42-72F15F3D9394}"/>
              </a:ext>
            </a:extLst>
          </p:cNvPr>
          <p:cNvSpPr txBox="1"/>
          <p:nvPr/>
        </p:nvSpPr>
        <p:spPr>
          <a:xfrm>
            <a:off x="1117600" y="4432300"/>
            <a:ext cx="45085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前台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因子信心分數經檢驗未具預測力，先定位為教學分數。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9BA44B-735D-EE62-28B0-B6B0570DA04C}"/>
              </a:ext>
            </a:extLst>
          </p:cNvPr>
          <p:cNvSpPr/>
          <p:nvPr/>
        </p:nvSpPr>
        <p:spPr>
          <a:xfrm>
            <a:off x="6413500" y="3873500"/>
            <a:ext cx="48895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EAAC4A-AF95-B46E-05B4-639006992EF8}"/>
              </a:ext>
            </a:extLst>
          </p:cNvPr>
          <p:cNvSpPr/>
          <p:nvPr/>
        </p:nvSpPr>
        <p:spPr>
          <a:xfrm>
            <a:off x="6413500" y="3873500"/>
            <a:ext cx="63500" cy="14605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39CD615-19AC-4F53-4948-2F4268C7B608}"/>
              </a:ext>
            </a:extLst>
          </p:cNvPr>
          <p:cNvSpPr txBox="1"/>
          <p:nvPr/>
        </p:nvSpPr>
        <p:spPr>
          <a:xfrm>
            <a:off x="6642100" y="4051300"/>
            <a:ext cx="45339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近期重點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E70F709-FB85-FAC5-B61B-B6026C22D6B5}"/>
              </a:ext>
            </a:extLst>
          </p:cNvPr>
          <p:cNvSpPr txBox="1"/>
          <p:nvPr/>
        </p:nvSpPr>
        <p:spPr>
          <a:xfrm>
            <a:off x="6642100" y="4432300"/>
            <a:ext cx="45085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後台已驗證防禦型跨幣動量策略，應優先產品化為正式建議。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EA879D4-0033-7A61-CB65-8DFE7A93D749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2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1692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3F943AE-8982-07AB-ACA6-B310FD5729FF}"/>
              </a:ext>
            </a:extLst>
          </p:cNvPr>
          <p:cNvSpPr txBox="1"/>
          <p:nvPr/>
        </p:nvSpPr>
        <p:spPr>
          <a:xfrm>
            <a:off x="736600" y="431800"/>
            <a:ext cx="10668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系統架構與資料流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8785591-B99C-74D6-8AAA-A12A1C81C25C}"/>
              </a:ext>
            </a:extLst>
          </p:cNvPr>
          <p:cNvSpPr txBox="1"/>
          <p:nvPr/>
        </p:nvSpPr>
        <p:spPr>
          <a:xfrm>
            <a:off x="762000" y="990600"/>
            <a:ext cx="10414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CSV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作中繼 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備援，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SQLite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作前後台讀取中心；即時資料走旁路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5A1AFA-AC46-1D41-107D-D532A9A1F58E}"/>
              </a:ext>
            </a:extLst>
          </p:cNvPr>
          <p:cNvSpPr/>
          <p:nvPr/>
        </p:nvSpPr>
        <p:spPr>
          <a:xfrm>
            <a:off x="825500" y="1905000"/>
            <a:ext cx="1714500" cy="55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Binance API</a:t>
            </a:r>
            <a:endParaRPr lang="zh-TW" altLang="en-US" sz="110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F14BB6-05A1-8DED-C827-3486F2F19F80}"/>
              </a:ext>
            </a:extLst>
          </p:cNvPr>
          <p:cNvSpPr/>
          <p:nvPr/>
        </p:nvSpPr>
        <p:spPr>
          <a:xfrm>
            <a:off x="825500" y="2984500"/>
            <a:ext cx="1714500" cy="7366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抓 </a:t>
            </a:r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線
算指標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FBD2561-A695-0C7D-5569-4CC59CACAF5F}"/>
              </a:ext>
            </a:extLst>
          </p:cNvPr>
          <p:cNvSpPr/>
          <p:nvPr/>
        </p:nvSpPr>
        <p:spPr>
          <a:xfrm>
            <a:off x="3302000" y="2984500"/>
            <a:ext cx="1524000" cy="736600"/>
          </a:xfrm>
          <a:prstGeom prst="rect">
            <a:avLst/>
          </a:prstGeom>
          <a:solidFill>
            <a:srgbClr val="FFFFFF"/>
          </a:solidFill>
          <a:ln w="1778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app.db</a:t>
            </a:r>
            <a:endParaRPr lang="zh-TW" altLang="en-US" sz="110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80AEC5-663E-EF3F-924D-639D5C3FB900}"/>
              </a:ext>
            </a:extLst>
          </p:cNvPr>
          <p:cNvSpPr/>
          <p:nvPr/>
        </p:nvSpPr>
        <p:spPr>
          <a:xfrm>
            <a:off x="5651500" y="2984500"/>
            <a:ext cx="1905000" cy="736600"/>
          </a:xfrm>
          <a:prstGeom prst="rect">
            <a:avLst/>
          </a:prstGeom>
          <a:solidFill>
            <a:srgbClr val="FFFFFF"/>
          </a:solidFill>
          <a:ln w="1778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FastAPI backend</a:t>
            </a:r>
            <a:endParaRPr lang="zh-TW" altLang="en-US" sz="110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CB9A38-F052-975E-E631-147BA72910F4}"/>
              </a:ext>
            </a:extLst>
          </p:cNvPr>
          <p:cNvSpPr/>
          <p:nvPr/>
        </p:nvSpPr>
        <p:spPr>
          <a:xfrm>
            <a:off x="8318500" y="2984500"/>
            <a:ext cx="2095500" cy="736600"/>
          </a:xfrm>
          <a:prstGeom prst="rect">
            <a:avLst/>
          </a:prstGeom>
          <a:solidFill>
            <a:srgbClr val="FFFFFF"/>
          </a:solidFill>
          <a:ln w="1778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React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前台 </a:t>
            </a:r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後台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1DBCB3-4400-93E0-248B-F595478AC3CE}"/>
              </a:ext>
            </a:extLst>
          </p:cNvPr>
          <p:cNvSpPr/>
          <p:nvPr/>
        </p:nvSpPr>
        <p:spPr>
          <a:xfrm>
            <a:off x="825500" y="4508500"/>
            <a:ext cx="1714500" cy="55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新聞來源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CEDF6E-14C8-6EC5-387A-C10408C74F24}"/>
              </a:ext>
            </a:extLst>
          </p:cNvPr>
          <p:cNvSpPr/>
          <p:nvPr/>
        </p:nvSpPr>
        <p:spPr>
          <a:xfrm>
            <a:off x="3302000" y="4419600"/>
            <a:ext cx="1905000" cy="7366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情緒詞庫標註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6BFAA4-2397-1DBC-E4F1-80913122CD73}"/>
              </a:ext>
            </a:extLst>
          </p:cNvPr>
          <p:cNvSpPr/>
          <p:nvPr/>
        </p:nvSpPr>
        <p:spPr>
          <a:xfrm>
            <a:off x="5651500" y="4419600"/>
            <a:ext cx="1524000" cy="736600"/>
          </a:xfrm>
          <a:prstGeom prst="rect">
            <a:avLst/>
          </a:prstGeom>
          <a:solidFill>
            <a:srgbClr val="FFFFFF"/>
          </a:solidFill>
          <a:ln w="1778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news.db</a:t>
            </a:r>
            <a:endParaRPr lang="zh-TW" altLang="en-US" sz="110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C871A4-C8BE-BCFD-4D83-33224B6D2C6C}"/>
              </a:ext>
            </a:extLst>
          </p:cNvPr>
          <p:cNvSpPr/>
          <p:nvPr/>
        </p:nvSpPr>
        <p:spPr>
          <a:xfrm>
            <a:off x="8318500" y="1841500"/>
            <a:ext cx="2095500" cy="558800"/>
          </a:xfrm>
          <a:prstGeom prst="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WebSocket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即時報價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0AAE66-1340-E913-BA9B-8BCBE42ACF18}"/>
              </a:ext>
            </a:extLst>
          </p:cNvPr>
          <p:cNvSpPr/>
          <p:nvPr/>
        </p:nvSpPr>
        <p:spPr>
          <a:xfrm>
            <a:off x="8318500" y="4508500"/>
            <a:ext cx="2095500" cy="736600"/>
          </a:xfrm>
          <a:prstGeom prst="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Yahoo / CoinGecko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宏觀資料</a:t>
            </a:r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3AF626D-D395-9B9F-F7C9-DFCA32B15C85}"/>
              </a:ext>
            </a:extLst>
          </p:cNvPr>
          <p:cNvCxnSpPr/>
          <p:nvPr/>
        </p:nvCxnSpPr>
        <p:spPr>
          <a:xfrm>
            <a:off x="2540000" y="2184400"/>
            <a:ext cx="762000" cy="105410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4FAD48E-0328-F77A-7302-7BC5A0B4C0B7}"/>
              </a:ext>
            </a:extLst>
          </p:cNvPr>
          <p:cNvCxnSpPr/>
          <p:nvPr/>
        </p:nvCxnSpPr>
        <p:spPr>
          <a:xfrm>
            <a:off x="2540000" y="3352800"/>
            <a:ext cx="7620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D2F48DA-286C-90B6-210B-EB256F2BAF91}"/>
              </a:ext>
            </a:extLst>
          </p:cNvPr>
          <p:cNvCxnSpPr/>
          <p:nvPr/>
        </p:nvCxnSpPr>
        <p:spPr>
          <a:xfrm>
            <a:off x="4826000" y="3352800"/>
            <a:ext cx="8255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B14A953-D1B2-4B84-DF85-F33D2BF39899}"/>
              </a:ext>
            </a:extLst>
          </p:cNvPr>
          <p:cNvCxnSpPr/>
          <p:nvPr/>
        </p:nvCxnSpPr>
        <p:spPr>
          <a:xfrm>
            <a:off x="7556500" y="3352800"/>
            <a:ext cx="7620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2459EE13-CA5D-B66C-81EA-308494557788}"/>
              </a:ext>
            </a:extLst>
          </p:cNvPr>
          <p:cNvCxnSpPr/>
          <p:nvPr/>
        </p:nvCxnSpPr>
        <p:spPr>
          <a:xfrm>
            <a:off x="2540000" y="4787900"/>
            <a:ext cx="7620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C6E7DA8B-4C94-6965-6EB0-74E369E0CA59}"/>
              </a:ext>
            </a:extLst>
          </p:cNvPr>
          <p:cNvCxnSpPr/>
          <p:nvPr/>
        </p:nvCxnSpPr>
        <p:spPr>
          <a:xfrm>
            <a:off x="5207000" y="4787900"/>
            <a:ext cx="4445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304E30AE-693A-B7A6-A9E5-8EA672B55AE7}"/>
              </a:ext>
            </a:extLst>
          </p:cNvPr>
          <p:cNvCxnSpPr/>
          <p:nvPr/>
        </p:nvCxnSpPr>
        <p:spPr>
          <a:xfrm flipV="1">
            <a:off x="6413500" y="3721100"/>
            <a:ext cx="0" cy="69850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904CF15E-4C11-B489-C2E8-B60DF3CC54D6}"/>
              </a:ext>
            </a:extLst>
          </p:cNvPr>
          <p:cNvCxnSpPr/>
          <p:nvPr/>
        </p:nvCxnSpPr>
        <p:spPr>
          <a:xfrm>
            <a:off x="9398000" y="2400300"/>
            <a:ext cx="0" cy="58420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D8FD4592-DC03-DEDF-D125-ABD80C7FAE29}"/>
              </a:ext>
            </a:extLst>
          </p:cNvPr>
          <p:cNvCxnSpPr/>
          <p:nvPr/>
        </p:nvCxnSpPr>
        <p:spPr>
          <a:xfrm flipV="1">
            <a:off x="9398000" y="3721100"/>
            <a:ext cx="0" cy="78740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89E16075-31D1-6545-CA44-66AF62DFA019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3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868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BCF0BFF-7025-3203-A295-F58600687B9D}"/>
              </a:ext>
            </a:extLst>
          </p:cNvPr>
          <p:cNvSpPr txBox="1"/>
          <p:nvPr/>
        </p:nvSpPr>
        <p:spPr>
          <a:xfrm>
            <a:off x="736600" y="431800"/>
            <a:ext cx="10668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資料與排程治理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7D105DB-A6E6-0703-A706-901D441DE8E4}"/>
              </a:ext>
            </a:extLst>
          </p:cNvPr>
          <p:cNvSpPr txBox="1"/>
          <p:nvPr/>
        </p:nvSpPr>
        <p:spPr>
          <a:xfrm>
            <a:off x="762000" y="990600"/>
            <a:ext cx="10414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重點不是只會跑，而是跑錯時能看見、能追、能復原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3B87F2-6375-51E6-B6AC-B17A68ED14C5}"/>
              </a:ext>
            </a:extLst>
          </p:cNvPr>
          <p:cNvSpPr/>
          <p:nvPr/>
        </p:nvSpPr>
        <p:spPr>
          <a:xfrm>
            <a:off x="698500" y="1905000"/>
            <a:ext cx="1016000" cy="533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09:00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觸發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AE7998E1-11FC-78F5-1DAD-55A140488167}"/>
              </a:ext>
            </a:extLst>
          </p:cNvPr>
          <p:cNvCxnSpPr/>
          <p:nvPr/>
        </p:nvCxnSpPr>
        <p:spPr>
          <a:xfrm>
            <a:off x="1714500" y="2171700"/>
            <a:ext cx="1778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35CE3AE4-2924-356C-7F9F-7B93D9DB3B30}"/>
              </a:ext>
            </a:extLst>
          </p:cNvPr>
          <p:cNvSpPr/>
          <p:nvPr/>
        </p:nvSpPr>
        <p:spPr>
          <a:xfrm>
            <a:off x="1892300" y="1905000"/>
            <a:ext cx="1016000" cy="533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抓日線</a:t>
            </a: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A607E112-B5A8-D380-0095-10248C156EA2}"/>
              </a:ext>
            </a:extLst>
          </p:cNvPr>
          <p:cNvCxnSpPr/>
          <p:nvPr/>
        </p:nvCxnSpPr>
        <p:spPr>
          <a:xfrm>
            <a:off x="2908300" y="2171700"/>
            <a:ext cx="1778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5E3E39A8-81C3-DDD7-D5FF-0161C4B57CEB}"/>
              </a:ext>
            </a:extLst>
          </p:cNvPr>
          <p:cNvSpPr/>
          <p:nvPr/>
        </p:nvSpPr>
        <p:spPr>
          <a:xfrm>
            <a:off x="3086100" y="1905000"/>
            <a:ext cx="1016000" cy="533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算指標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6FDF5AF-C1E0-3576-A447-46FD4C3B3FA6}"/>
              </a:ext>
            </a:extLst>
          </p:cNvPr>
          <p:cNvCxnSpPr/>
          <p:nvPr/>
        </p:nvCxnSpPr>
        <p:spPr>
          <a:xfrm>
            <a:off x="4102100" y="2171700"/>
            <a:ext cx="1778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DA852EC-B58A-D2BF-8EAC-2F7B75266C77}"/>
              </a:ext>
            </a:extLst>
          </p:cNvPr>
          <p:cNvSpPr/>
          <p:nvPr/>
        </p:nvSpPr>
        <p:spPr>
          <a:xfrm>
            <a:off x="4279900" y="1905000"/>
            <a:ext cx="1016000" cy="533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入庫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67544E7-C5F8-7BF2-C8D0-E65323F6B500}"/>
              </a:ext>
            </a:extLst>
          </p:cNvPr>
          <p:cNvCxnSpPr/>
          <p:nvPr/>
        </p:nvCxnSpPr>
        <p:spPr>
          <a:xfrm>
            <a:off x="5295900" y="2171700"/>
            <a:ext cx="1778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412CCD43-32F5-8BA9-96A1-B0CBCBF3D0A6}"/>
              </a:ext>
            </a:extLst>
          </p:cNvPr>
          <p:cNvSpPr/>
          <p:nvPr/>
        </p:nvSpPr>
        <p:spPr>
          <a:xfrm>
            <a:off x="5473700" y="1905000"/>
            <a:ext cx="1016000" cy="533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重算訊號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83E031B-198C-B266-620E-30C6257FE970}"/>
              </a:ext>
            </a:extLst>
          </p:cNvPr>
          <p:cNvCxnSpPr/>
          <p:nvPr/>
        </p:nvCxnSpPr>
        <p:spPr>
          <a:xfrm>
            <a:off x="6489700" y="2171700"/>
            <a:ext cx="1778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917241C-5BD5-A4DD-A06F-4695806F23CF}"/>
              </a:ext>
            </a:extLst>
          </p:cNvPr>
          <p:cNvSpPr/>
          <p:nvPr/>
        </p:nvSpPr>
        <p:spPr>
          <a:xfrm>
            <a:off x="6667500" y="1905000"/>
            <a:ext cx="1016000" cy="533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重產回測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A4AD915-6F10-1C7F-CA98-8D052335F2A2}"/>
              </a:ext>
            </a:extLst>
          </p:cNvPr>
          <p:cNvCxnSpPr/>
          <p:nvPr/>
        </p:nvCxnSpPr>
        <p:spPr>
          <a:xfrm>
            <a:off x="7683500" y="2171700"/>
            <a:ext cx="1778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10C80BB0-1563-8C99-A141-D9D51A2D69FB}"/>
              </a:ext>
            </a:extLst>
          </p:cNvPr>
          <p:cNvSpPr/>
          <p:nvPr/>
        </p:nvSpPr>
        <p:spPr>
          <a:xfrm>
            <a:off x="7861300" y="1905000"/>
            <a:ext cx="1016000" cy="533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資料新鮮</a:t>
            </a:r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?</a:t>
            </a:r>
            <a:endParaRPr lang="zh-TW" altLang="en-US" sz="110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30E0C1BC-A2FC-9FE8-2FE1-696BB8032CAF}"/>
              </a:ext>
            </a:extLst>
          </p:cNvPr>
          <p:cNvCxnSpPr/>
          <p:nvPr/>
        </p:nvCxnSpPr>
        <p:spPr>
          <a:xfrm>
            <a:off x="8877300" y="2171700"/>
            <a:ext cx="1778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2A73DE7-0A1E-E746-25D6-3E95E226A836}"/>
              </a:ext>
            </a:extLst>
          </p:cNvPr>
          <p:cNvSpPr/>
          <p:nvPr/>
        </p:nvSpPr>
        <p:spPr>
          <a:xfrm>
            <a:off x="9055100" y="1905000"/>
            <a:ext cx="1016000" cy="533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清新聞情緒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EA8F6C09-A86C-08BC-4C5F-E43A6DFD3C56}"/>
              </a:ext>
            </a:extLst>
          </p:cNvPr>
          <p:cNvCxnSpPr/>
          <p:nvPr/>
        </p:nvCxnSpPr>
        <p:spPr>
          <a:xfrm>
            <a:off x="10071100" y="2171700"/>
            <a:ext cx="1778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4A3FD030-D3CB-AE15-8DE3-79A099364643}"/>
              </a:ext>
            </a:extLst>
          </p:cNvPr>
          <p:cNvSpPr/>
          <p:nvPr/>
        </p:nvSpPr>
        <p:spPr>
          <a:xfrm>
            <a:off x="10248900" y="1905000"/>
            <a:ext cx="1016000" cy="533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job=success</a:t>
            </a:r>
            <a:endParaRPr lang="zh-TW" altLang="en-US" sz="110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FBD4BE-D68C-E0AC-37CD-C0EEE7425116}"/>
              </a:ext>
            </a:extLst>
          </p:cNvPr>
          <p:cNvSpPr/>
          <p:nvPr/>
        </p:nvSpPr>
        <p:spPr>
          <a:xfrm>
            <a:off x="1016000" y="3429000"/>
            <a:ext cx="3175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09A4B4-4958-BEE4-CCF2-1110A47C8A8E}"/>
              </a:ext>
            </a:extLst>
          </p:cNvPr>
          <p:cNvSpPr/>
          <p:nvPr/>
        </p:nvSpPr>
        <p:spPr>
          <a:xfrm>
            <a:off x="1016000" y="3429000"/>
            <a:ext cx="63500" cy="1524000"/>
          </a:xfrm>
          <a:prstGeom prst="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62D2755-AA13-5B27-304B-E5DEA8CAF077}"/>
              </a:ext>
            </a:extLst>
          </p:cNvPr>
          <p:cNvSpPr txBox="1"/>
          <p:nvPr/>
        </p:nvSpPr>
        <p:spPr>
          <a:xfrm>
            <a:off x="1244600" y="36068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資料庫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8081CA4-D177-CD1D-CA9C-E4D3461390EC}"/>
              </a:ext>
            </a:extLst>
          </p:cNvPr>
          <p:cNvSpPr txBox="1"/>
          <p:nvPr/>
        </p:nvSpPr>
        <p:spPr>
          <a:xfrm>
            <a:off x="1244600" y="3987800"/>
            <a:ext cx="2794000" cy="53604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app.db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：行情、指標、訊號、任務、排程紀錄、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快取與用量。
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news.db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：新聞與每日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各幣情緒分數。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D07DA66-B2FA-F070-7035-2313C731C5E2}"/>
              </a:ext>
            </a:extLst>
          </p:cNvPr>
          <p:cNvSpPr/>
          <p:nvPr/>
        </p:nvSpPr>
        <p:spPr>
          <a:xfrm>
            <a:off x="4508500" y="3429000"/>
            <a:ext cx="3175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CE01858-EB0E-E124-478A-DC78C1E893EE}"/>
              </a:ext>
            </a:extLst>
          </p:cNvPr>
          <p:cNvSpPr/>
          <p:nvPr/>
        </p:nvSpPr>
        <p:spPr>
          <a:xfrm>
            <a:off x="4508500" y="3429000"/>
            <a:ext cx="63500" cy="1524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0D97169-F098-2E00-F6B2-70D07091D0E2}"/>
              </a:ext>
            </a:extLst>
          </p:cNvPr>
          <p:cNvSpPr txBox="1"/>
          <p:nvPr/>
        </p:nvSpPr>
        <p:spPr>
          <a:xfrm>
            <a:off x="4737100" y="36068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排程防線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2D6D478-D8F4-4007-30AF-0826BF388FEE}"/>
              </a:ext>
            </a:extLst>
          </p:cNvPr>
          <p:cNvSpPr txBox="1"/>
          <p:nvPr/>
        </p:nvSpPr>
        <p:spPr>
          <a:xfrm>
            <a:off x="4737100" y="39878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每日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pipeline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、每小時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1h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線、每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分新聞；每步檢查結束碼與資料新鮮度。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DE97CE-9536-19F4-F1A7-96586898E60D}"/>
              </a:ext>
            </a:extLst>
          </p:cNvPr>
          <p:cNvSpPr/>
          <p:nvPr/>
        </p:nvSpPr>
        <p:spPr>
          <a:xfrm>
            <a:off x="8001000" y="3429000"/>
            <a:ext cx="3175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29C97FA-5ADA-9DFB-143F-D57DE4D7C932}"/>
              </a:ext>
            </a:extLst>
          </p:cNvPr>
          <p:cNvSpPr/>
          <p:nvPr/>
        </p:nvSpPr>
        <p:spPr>
          <a:xfrm>
            <a:off x="8001000" y="3429000"/>
            <a:ext cx="63500" cy="1524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F9636B7-42D1-7C75-68D2-7C9872247CA6}"/>
              </a:ext>
            </a:extLst>
          </p:cNvPr>
          <p:cNvSpPr txBox="1"/>
          <p:nvPr/>
        </p:nvSpPr>
        <p:spPr>
          <a:xfrm>
            <a:off x="8229600" y="36068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正確性鐵律</a:t>
            </a: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FCEB8C6-40E2-92B1-E3C0-A1DC9EC2DB0F}"/>
              </a:ext>
            </a:extLst>
          </p:cNvPr>
          <p:cNvSpPr txBox="1"/>
          <p:nvPr/>
        </p:nvSpPr>
        <p:spPr>
          <a:xfrm>
            <a:off x="8229600" y="39878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只存已收盤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K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棒；回測不前視；訊號與回測共用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scoring.py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0C71853-43C6-795D-1CAA-50C47B778462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4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85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62AC2FC-8471-1F27-C69D-08506317C2D4}"/>
              </a:ext>
            </a:extLst>
          </p:cNvPr>
          <p:cNvSpPr txBox="1"/>
          <p:nvPr/>
        </p:nvSpPr>
        <p:spPr>
          <a:xfrm>
            <a:off x="736600" y="431800"/>
            <a:ext cx="10668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系統：規則引擎 </a:t>
            </a:r>
            <a:r>
              <a:rPr lang="en-US" altLang="zh-TW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GPT </a:t>
            </a:r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雙引擎互輔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7FB5BFE-0DF1-12E9-A6FA-C27E54E161D3}"/>
              </a:ext>
            </a:extLst>
          </p:cNvPr>
          <p:cNvSpPr txBox="1"/>
          <p:nvPr/>
        </p:nvSpPr>
        <p:spPr>
          <a:xfrm>
            <a:off x="762000" y="990600"/>
            <a:ext cx="10414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GPT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不直接自由發揮，而是吃本地數據整理出的結構化事實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C27632-03A5-CBC8-627C-8B269EF22B08}"/>
              </a:ext>
            </a:extLst>
          </p:cNvPr>
          <p:cNvSpPr/>
          <p:nvPr/>
        </p:nvSpPr>
        <p:spPr>
          <a:xfrm>
            <a:off x="1079500" y="2032000"/>
            <a:ext cx="2286000" cy="6096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使用者提問 </a:t>
            </a:r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看分析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DC911A-EDB9-0D9F-6373-A023AA0798F2}"/>
              </a:ext>
            </a:extLst>
          </p:cNvPr>
          <p:cNvSpPr/>
          <p:nvPr/>
        </p:nvSpPr>
        <p:spPr>
          <a:xfrm>
            <a:off x="4254500" y="1905000"/>
            <a:ext cx="2540000" cy="8890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build_context
6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因子 </a:t>
            </a:r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指標 </a:t>
            </a:r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D6D5D2-AD4D-CC0A-2EF7-BA08377670F4}"/>
              </a:ext>
            </a:extLst>
          </p:cNvPr>
          <p:cNvSpPr/>
          <p:nvPr/>
        </p:nvSpPr>
        <p:spPr>
          <a:xfrm>
            <a:off x="3111500" y="3810000"/>
            <a:ext cx="2286000" cy="787400"/>
          </a:xfrm>
          <a:prstGeom prst="rect">
            <a:avLst/>
          </a:prstGeom>
          <a:solidFill>
            <a:srgbClr val="FFFFFF"/>
          </a:solidFill>
          <a:ln w="1778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規則引擎
免費、永遠可用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1ADDE8-ADC2-6257-60B0-497034E56A5E}"/>
              </a:ext>
            </a:extLst>
          </p:cNvPr>
          <p:cNvSpPr/>
          <p:nvPr/>
        </p:nvSpPr>
        <p:spPr>
          <a:xfrm>
            <a:off x="6731000" y="3810000"/>
            <a:ext cx="2667000" cy="7874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GPT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深度解讀
固定提示詞、數據錨定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7F9AED-3A07-3757-EFDA-404A525AC2C8}"/>
              </a:ext>
            </a:extLst>
          </p:cNvPr>
          <p:cNvSpPr/>
          <p:nvPr/>
        </p:nvSpPr>
        <p:spPr>
          <a:xfrm>
            <a:off x="4978400" y="5334000"/>
            <a:ext cx="2159000" cy="609600"/>
          </a:xfrm>
          <a:prstGeom prst="rect">
            <a:avLst/>
          </a:prstGeom>
          <a:solidFill>
            <a:srgbClr val="FFFFFF"/>
          </a:solidFill>
          <a:ln w="1778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輸出分析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5B9210B1-4A68-9923-A510-A5514B113F6D}"/>
              </a:ext>
            </a:extLst>
          </p:cNvPr>
          <p:cNvCxnSpPr/>
          <p:nvPr/>
        </p:nvCxnSpPr>
        <p:spPr>
          <a:xfrm>
            <a:off x="3365500" y="2336800"/>
            <a:ext cx="8890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A89E6C83-3D65-39C3-4D1D-4C45BD3A38EE}"/>
              </a:ext>
            </a:extLst>
          </p:cNvPr>
          <p:cNvCxnSpPr/>
          <p:nvPr/>
        </p:nvCxnSpPr>
        <p:spPr>
          <a:xfrm flipH="1">
            <a:off x="4254500" y="2794000"/>
            <a:ext cx="1206500" cy="101600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81ACA261-F3D4-2B6B-B645-5E8AF656AA5C}"/>
              </a:ext>
            </a:extLst>
          </p:cNvPr>
          <p:cNvCxnSpPr/>
          <p:nvPr/>
        </p:nvCxnSpPr>
        <p:spPr>
          <a:xfrm>
            <a:off x="5969000" y="2794000"/>
            <a:ext cx="2095500" cy="101600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88EC8D89-CB40-F46C-6870-6EC44EB4D373}"/>
              </a:ext>
            </a:extLst>
          </p:cNvPr>
          <p:cNvCxnSpPr/>
          <p:nvPr/>
        </p:nvCxnSpPr>
        <p:spPr>
          <a:xfrm>
            <a:off x="4254500" y="4597400"/>
            <a:ext cx="1206500" cy="73660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BEF4FD39-6092-454D-62ED-289D3145C684}"/>
              </a:ext>
            </a:extLst>
          </p:cNvPr>
          <p:cNvCxnSpPr/>
          <p:nvPr/>
        </p:nvCxnSpPr>
        <p:spPr>
          <a:xfrm flipH="1">
            <a:off x="6667500" y="4597400"/>
            <a:ext cx="1397000" cy="73660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83A25A5-4810-27A8-CE35-AA86E8635483}"/>
              </a:ext>
            </a:extLst>
          </p:cNvPr>
          <p:cNvSpPr/>
          <p:nvPr/>
        </p:nvSpPr>
        <p:spPr>
          <a:xfrm>
            <a:off x="889000" y="5143500"/>
            <a:ext cx="33020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E607C5-8EC8-6B8C-4191-43B2D0A702AF}"/>
              </a:ext>
            </a:extLst>
          </p:cNvPr>
          <p:cNvSpPr/>
          <p:nvPr/>
        </p:nvSpPr>
        <p:spPr>
          <a:xfrm>
            <a:off x="889000" y="5143500"/>
            <a:ext cx="63500" cy="9906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A99D34B-CB4B-3F60-B694-0BC5A2F5725E}"/>
              </a:ext>
            </a:extLst>
          </p:cNvPr>
          <p:cNvSpPr txBox="1"/>
          <p:nvPr/>
        </p:nvSpPr>
        <p:spPr>
          <a:xfrm>
            <a:off x="1117600" y="5321300"/>
            <a:ext cx="2946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控風險與成本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27BA342-A511-80AC-9B8C-0D37D7FDDD8A}"/>
              </a:ext>
            </a:extLst>
          </p:cNvPr>
          <p:cNvSpPr txBox="1"/>
          <p:nvPr/>
        </p:nvSpPr>
        <p:spPr>
          <a:xfrm>
            <a:off x="1117600" y="5702300"/>
            <a:ext cx="2921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立場不一致標示「觀點分歧」；每小時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80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次上限、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15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分鐘快取、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token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用量可視。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CBEC98C-9D24-CB5C-F352-BD29DC7A3964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5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575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C8D707A-976F-2A23-217F-F7DC29554852}"/>
              </a:ext>
            </a:extLst>
          </p:cNvPr>
          <p:cNvSpPr txBox="1"/>
          <p:nvPr/>
        </p:nvSpPr>
        <p:spPr>
          <a:xfrm>
            <a:off x="736600" y="431800"/>
            <a:ext cx="10668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訊號現況：先誠實，再增準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4C18836-09CE-739D-18A1-61FD9CA54EE9}"/>
              </a:ext>
            </a:extLst>
          </p:cNvPr>
          <p:cNvSpPr txBox="1"/>
          <p:nvPr/>
        </p:nvSpPr>
        <p:spPr>
          <a:xfrm>
            <a:off x="762000" y="990600"/>
            <a:ext cx="10414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目前可產品化的不是 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因子，而是後台防禦型動量策略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59E3FB2-8F0E-B3EF-1BC7-C3A4AD4AC800}"/>
              </a:ext>
            </a:extLst>
          </p:cNvPr>
          <p:cNvSpPr/>
          <p:nvPr/>
        </p:nvSpPr>
        <p:spPr>
          <a:xfrm>
            <a:off x="1079500" y="1968500"/>
            <a:ext cx="1206500" cy="584200"/>
          </a:xfrm>
          <a:prstGeom prst="round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US" altLang="zh-TW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45.2%</a:t>
            </a:r>
            <a:endParaRPr lang="zh-TW" altLang="en-US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A0FC84D-8404-3D9D-D6D9-0AB99799FB17}"/>
              </a:ext>
            </a:extLst>
          </p:cNvPr>
          <p:cNvSpPr txBox="1"/>
          <p:nvPr/>
        </p:nvSpPr>
        <p:spPr>
          <a:xfrm>
            <a:off x="2578100" y="2095500"/>
            <a:ext cx="7747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聽 </a:t>
            </a:r>
            <a:r>
              <a:rPr lang="en-US" altLang="zh-TW" sz="13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 </a:t>
            </a:r>
            <a:r>
              <a:rPr lang="zh-TW" altLang="en-US" sz="13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因子信心分數，</a:t>
            </a:r>
            <a:r>
              <a:rPr lang="en-US" altLang="zh-TW" sz="13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 </a:t>
            </a:r>
            <a:r>
              <a:rPr lang="zh-TW" altLang="en-US" sz="13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日後賺錢機率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8484539-8795-60C9-F8E4-F03C6AB9BF98}"/>
              </a:ext>
            </a:extLst>
          </p:cNvPr>
          <p:cNvSpPr/>
          <p:nvPr/>
        </p:nvSpPr>
        <p:spPr>
          <a:xfrm>
            <a:off x="1079500" y="3111500"/>
            <a:ext cx="1206500" cy="584200"/>
          </a:xfrm>
          <a:prstGeom prst="roundRect">
            <a:avLst/>
          </a:prstGeom>
          <a:solidFill>
            <a:srgbClr val="6474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US" altLang="zh-TW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47.4%</a:t>
            </a:r>
            <a:endParaRPr lang="zh-TW" altLang="en-US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65CE30F-0A37-8C21-CD3B-52E1E70B76EA}"/>
              </a:ext>
            </a:extLst>
          </p:cNvPr>
          <p:cNvSpPr txBox="1"/>
          <p:nvPr/>
        </p:nvSpPr>
        <p:spPr>
          <a:xfrm>
            <a:off x="2578100" y="3238500"/>
            <a:ext cx="7747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隨機買入基準勝率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810A5FE-4691-A769-E2B4-C42F4596CDF0}"/>
              </a:ext>
            </a:extLst>
          </p:cNvPr>
          <p:cNvSpPr/>
          <p:nvPr/>
        </p:nvSpPr>
        <p:spPr>
          <a:xfrm>
            <a:off x="1079500" y="4254500"/>
            <a:ext cx="1206500" cy="584200"/>
          </a:xfrm>
          <a:prstGeom prst="round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rIns="25400" rtlCol="0" anchor="ctr"/>
          <a:lstStyle/>
          <a:p>
            <a:pPr algn="ctr"/>
            <a:r>
              <a:rPr lang="en-US" altLang="zh-TW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+27%</a:t>
            </a:r>
            <a:endParaRPr lang="zh-TW" altLang="en-US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698FB42-D88C-B2EC-3736-315A426B25D0}"/>
              </a:ext>
            </a:extLst>
          </p:cNvPr>
          <p:cNvSpPr txBox="1"/>
          <p:nvPr/>
        </p:nvSpPr>
        <p:spPr>
          <a:xfrm>
            <a:off x="2578100" y="4381500"/>
            <a:ext cx="77470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防禦型跨幣動量策略樣本外表現；對照大盤 </a:t>
            </a:r>
            <a:r>
              <a:rPr lang="en-US" altLang="zh-TW" sz="13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-19%</a:t>
            </a:r>
            <a:endParaRPr lang="zh-TW" altLang="en-US" sz="130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00B2FCB-4870-8E4C-D249-2C03F087F12D}"/>
              </a:ext>
            </a:extLst>
          </p:cNvPr>
          <p:cNvSpPr/>
          <p:nvPr/>
        </p:nvSpPr>
        <p:spPr>
          <a:xfrm>
            <a:off x="7620000" y="2032000"/>
            <a:ext cx="3429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74009C-F6F0-CB9E-6282-81C7CAC56C1F}"/>
              </a:ext>
            </a:extLst>
          </p:cNvPr>
          <p:cNvSpPr/>
          <p:nvPr/>
        </p:nvSpPr>
        <p:spPr>
          <a:xfrm>
            <a:off x="7620000" y="2032000"/>
            <a:ext cx="63500" cy="1270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3B120D6-23D4-C935-96F2-9AA6DFD1462A}"/>
              </a:ext>
            </a:extLst>
          </p:cNvPr>
          <p:cNvSpPr txBox="1"/>
          <p:nvPr/>
        </p:nvSpPr>
        <p:spPr>
          <a:xfrm>
            <a:off x="7848600" y="2209800"/>
            <a:ext cx="3073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病因總結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48EF5BE-59DE-37F5-7493-B9A64C639A7F}"/>
              </a:ext>
            </a:extLst>
          </p:cNvPr>
          <p:cNvSpPr txBox="1"/>
          <p:nvPr/>
        </p:nvSpPr>
        <p:spPr>
          <a:xfrm>
            <a:off x="7848600" y="2590800"/>
            <a:ext cx="3048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用「會回到平均」的邏輯，去玩一個「漲就繼續漲、跌就繼續跌」的市場。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16FF18-04B5-436F-7FEC-EC85D47C5C3E}"/>
              </a:ext>
            </a:extLst>
          </p:cNvPr>
          <p:cNvSpPr/>
          <p:nvPr/>
        </p:nvSpPr>
        <p:spPr>
          <a:xfrm>
            <a:off x="7620000" y="3937000"/>
            <a:ext cx="3429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0176B5-418F-29E0-F605-037D87FB515C}"/>
              </a:ext>
            </a:extLst>
          </p:cNvPr>
          <p:cNvSpPr/>
          <p:nvPr/>
        </p:nvSpPr>
        <p:spPr>
          <a:xfrm>
            <a:off x="7620000" y="3937000"/>
            <a:ext cx="63500" cy="1460500"/>
          </a:xfrm>
          <a:prstGeom prst="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3588EDE-1C6E-F26A-8146-EF5D554E7719}"/>
              </a:ext>
            </a:extLst>
          </p:cNvPr>
          <p:cNvSpPr txBox="1"/>
          <p:nvPr/>
        </p:nvSpPr>
        <p:spPr>
          <a:xfrm>
            <a:off x="7848600" y="4114800"/>
            <a:ext cx="3073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策略邏輯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A9B1E8F-488B-514F-FDFA-403F19080C22}"/>
              </a:ext>
            </a:extLst>
          </p:cNvPr>
          <p:cNvSpPr txBox="1"/>
          <p:nvPr/>
        </p:nvSpPr>
        <p:spPr>
          <a:xfrm>
            <a:off x="7848600" y="4495800"/>
            <a:ext cx="3048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BTC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MA100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之上才進場；買最近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天最強前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名；控制波動、定期換倉。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C271F36-4FCF-2880-4359-A65D37395F39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6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4097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72C7666-D3D6-2E0B-D928-D81788298A29}"/>
              </a:ext>
            </a:extLst>
          </p:cNvPr>
          <p:cNvSpPr txBox="1"/>
          <p:nvPr/>
        </p:nvSpPr>
        <p:spPr>
          <a:xfrm>
            <a:off x="736600" y="431800"/>
            <a:ext cx="10668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訊號增準計畫：</a:t>
            </a:r>
            <a:r>
              <a:rPr lang="en-US" altLang="zh-TW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Phase A </a:t>
            </a:r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 </a:t>
            </a:r>
            <a:r>
              <a:rPr lang="en-US" altLang="zh-TW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</a:t>
            </a:r>
            <a:endParaRPr lang="zh-TW" altLang="en-US" sz="240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F67A858-1CB9-60F9-13CD-4A5055601A27}"/>
              </a:ext>
            </a:extLst>
          </p:cNvPr>
          <p:cNvSpPr txBox="1"/>
          <p:nvPr/>
        </p:nvSpPr>
        <p:spPr>
          <a:xfrm>
            <a:off x="762000" y="990600"/>
            <a:ext cx="10414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先把已驗證策略上前台，再修因子、加 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regime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、做 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walk-forward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驗證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A3923A-8A70-FDD9-9CD8-32F68E7AA1CD}"/>
              </a:ext>
            </a:extLst>
          </p:cNvPr>
          <p:cNvSpPr/>
          <p:nvPr/>
        </p:nvSpPr>
        <p:spPr>
          <a:xfrm>
            <a:off x="889000" y="2032000"/>
            <a:ext cx="1841500" cy="609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 </a:t>
            </a:r>
            <a:r>
              <a:rPr lang="zh-TW" altLang="en-US" sz="11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誠實分軌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7566890-06FA-A561-3614-440DDDF0A2FB}"/>
              </a:ext>
            </a:extLst>
          </p:cNvPr>
          <p:cNvSpPr txBox="1"/>
          <p:nvPr/>
        </p:nvSpPr>
        <p:spPr>
          <a:xfrm>
            <a:off x="825500" y="2819400"/>
            <a:ext cx="19685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動量策略上前台；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因子降教學</a:t>
            </a: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90BC5CE-B8E6-FA6F-919A-3160F39A6ABD}"/>
              </a:ext>
            </a:extLst>
          </p:cNvPr>
          <p:cNvCxnSpPr/>
          <p:nvPr/>
        </p:nvCxnSpPr>
        <p:spPr>
          <a:xfrm>
            <a:off x="2730500" y="2336800"/>
            <a:ext cx="2540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FF6A9B5-CA6A-E6CC-5D3E-8DAF74232239}"/>
              </a:ext>
            </a:extLst>
          </p:cNvPr>
          <p:cNvSpPr/>
          <p:nvPr/>
        </p:nvSpPr>
        <p:spPr>
          <a:xfrm>
            <a:off x="3048000" y="2032000"/>
            <a:ext cx="1841500" cy="609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 </a:t>
            </a:r>
            <a:r>
              <a:rPr lang="zh-TW" altLang="en-US" sz="11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因子手術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F640879-3D4A-AA1A-D087-346FA89A9E06}"/>
              </a:ext>
            </a:extLst>
          </p:cNvPr>
          <p:cNvSpPr txBox="1"/>
          <p:nvPr/>
        </p:nvSpPr>
        <p:spPr>
          <a:xfrm>
            <a:off x="2984500" y="2819400"/>
            <a:ext cx="19685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翻轉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刪除負因子；加入新因子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AC6B54A-7428-A89D-2B5B-8E7CDD2E61EB}"/>
              </a:ext>
            </a:extLst>
          </p:cNvPr>
          <p:cNvCxnSpPr/>
          <p:nvPr/>
        </p:nvCxnSpPr>
        <p:spPr>
          <a:xfrm>
            <a:off x="4889500" y="2336800"/>
            <a:ext cx="2540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74215FF-87BF-836D-3104-93CC6B0E69D0}"/>
              </a:ext>
            </a:extLst>
          </p:cNvPr>
          <p:cNvSpPr/>
          <p:nvPr/>
        </p:nvSpPr>
        <p:spPr>
          <a:xfrm>
            <a:off x="5207000" y="2032000"/>
            <a:ext cx="1841500" cy="609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 Regime </a:t>
            </a:r>
            <a:r>
              <a:rPr lang="zh-TW" altLang="en-US" sz="11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開關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67E38DC-F704-DDCA-BE3C-7C7AF05FB178}"/>
              </a:ext>
            </a:extLst>
          </p:cNvPr>
          <p:cNvSpPr txBox="1"/>
          <p:nvPr/>
        </p:nvSpPr>
        <p:spPr>
          <a:xfrm>
            <a:off x="5143500" y="2819400"/>
            <a:ext cx="19685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BTC &gt; MA100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才允許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BULL</a:t>
            </a:r>
            <a:endParaRPr lang="zh-TW" altLang="en-US" sz="1050">
              <a:solidFill>
                <a:srgbClr val="475569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C8EB2027-7470-3603-A2F0-7598C3208E26}"/>
              </a:ext>
            </a:extLst>
          </p:cNvPr>
          <p:cNvCxnSpPr/>
          <p:nvPr/>
        </p:nvCxnSpPr>
        <p:spPr>
          <a:xfrm>
            <a:off x="7048500" y="2336800"/>
            <a:ext cx="2540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0A3404A-3FCA-11C9-853E-0025BF4BCB8E}"/>
              </a:ext>
            </a:extLst>
          </p:cNvPr>
          <p:cNvSpPr/>
          <p:nvPr/>
        </p:nvSpPr>
        <p:spPr>
          <a:xfrm>
            <a:off x="7366000" y="2032000"/>
            <a:ext cx="1841500" cy="609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 Walk-forward</a:t>
            </a:r>
            <a:endParaRPr lang="zh-TW" altLang="en-US" sz="1100" b="1">
              <a:solidFill>
                <a:srgbClr val="FFFF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4DE7A0C-E5CD-B376-10E1-713E646A9F1E}"/>
              </a:ext>
            </a:extLst>
          </p:cNvPr>
          <p:cNvSpPr txBox="1"/>
          <p:nvPr/>
        </p:nvSpPr>
        <p:spPr>
          <a:xfrm>
            <a:off x="7302500" y="2819400"/>
            <a:ext cx="19685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訓練、驗證、測試；測試只看一次</a:t>
            </a: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0E18A32C-8A66-F8B3-96A2-959DAC4B3DD1}"/>
              </a:ext>
            </a:extLst>
          </p:cNvPr>
          <p:cNvCxnSpPr/>
          <p:nvPr/>
        </p:nvCxnSpPr>
        <p:spPr>
          <a:xfrm>
            <a:off x="9207500" y="2336800"/>
            <a:ext cx="2540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5CEE09F6-E01D-A5E1-8D46-D8429AAA46D3}"/>
              </a:ext>
            </a:extLst>
          </p:cNvPr>
          <p:cNvSpPr/>
          <p:nvPr/>
        </p:nvSpPr>
        <p:spPr>
          <a:xfrm>
            <a:off x="9525000" y="2032000"/>
            <a:ext cx="1841500" cy="609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 1h </a:t>
            </a:r>
            <a:r>
              <a:rPr lang="zh-TW" altLang="en-US" sz="11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確認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BB0EAF4-C7CE-33AA-FEE8-C8594DCA6238}"/>
              </a:ext>
            </a:extLst>
          </p:cNvPr>
          <p:cNvSpPr txBox="1"/>
          <p:nvPr/>
        </p:nvSpPr>
        <p:spPr>
          <a:xfrm>
            <a:off x="9461500" y="2819400"/>
            <a:ext cx="19685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選配，用時線降低假訊號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77100B-DBD6-C892-396C-A2F454F139E0}"/>
              </a:ext>
            </a:extLst>
          </p:cNvPr>
          <p:cNvSpPr/>
          <p:nvPr/>
        </p:nvSpPr>
        <p:spPr>
          <a:xfrm>
            <a:off x="2032000" y="4191000"/>
            <a:ext cx="3683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38D468-CCCE-5B3B-2013-D820427664A3}"/>
              </a:ext>
            </a:extLst>
          </p:cNvPr>
          <p:cNvSpPr/>
          <p:nvPr/>
        </p:nvSpPr>
        <p:spPr>
          <a:xfrm>
            <a:off x="2032000" y="4191000"/>
            <a:ext cx="63500" cy="13335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D0F7387-6F2B-EAC2-4E6C-5EB20ACD042E}"/>
              </a:ext>
            </a:extLst>
          </p:cNvPr>
          <p:cNvSpPr txBox="1"/>
          <p:nvPr/>
        </p:nvSpPr>
        <p:spPr>
          <a:xfrm>
            <a:off x="2260600" y="4368800"/>
            <a:ext cx="3327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驗收門檻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C5C69AC-3430-AE3B-C763-5AC80BF50821}"/>
              </a:ext>
            </a:extLst>
          </p:cNvPr>
          <p:cNvSpPr txBox="1"/>
          <p:nvPr/>
        </p:nvSpPr>
        <p:spPr>
          <a:xfrm>
            <a:off x="2260600" y="4749800"/>
            <a:ext cx="3302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樣本外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日勝率必須 ≥ 基準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+0.5pp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；未達標就不上線，續用動量策略。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304C2DC-55D0-2DF4-BBE9-5984CD59BC48}"/>
              </a:ext>
            </a:extLst>
          </p:cNvPr>
          <p:cNvSpPr/>
          <p:nvPr/>
        </p:nvSpPr>
        <p:spPr>
          <a:xfrm>
            <a:off x="6477000" y="4191000"/>
            <a:ext cx="3683000" cy="133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11E738-FE56-4CBE-E6ED-8DD0012A0FBC}"/>
              </a:ext>
            </a:extLst>
          </p:cNvPr>
          <p:cNvSpPr/>
          <p:nvPr/>
        </p:nvSpPr>
        <p:spPr>
          <a:xfrm>
            <a:off x="6477000" y="4191000"/>
            <a:ext cx="63500" cy="1333500"/>
          </a:xfrm>
          <a:prstGeom prst="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F172A4F-3BF2-9914-7802-B17E0A6152AF}"/>
              </a:ext>
            </a:extLst>
          </p:cNvPr>
          <p:cNvSpPr txBox="1"/>
          <p:nvPr/>
        </p:nvSpPr>
        <p:spPr>
          <a:xfrm>
            <a:off x="6705600" y="4368800"/>
            <a:ext cx="3327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落地優先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092AAA5-CE8F-81D8-7EEF-156CF2576256}"/>
              </a:ext>
            </a:extLst>
          </p:cNvPr>
          <p:cNvSpPr txBox="1"/>
          <p:nvPr/>
        </p:nvSpPr>
        <p:spPr>
          <a:xfrm>
            <a:off x="6705600" y="4749800"/>
            <a:ext cx="3302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先做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Phase A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：開策略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API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、前台顯示正式策略、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context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加入策略建議。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CD304FC-957E-4F92-38E2-41EB8FDFB611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7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1005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9AA6C4E-3D0C-BBA8-9336-8D3CB58D2C83}"/>
              </a:ext>
            </a:extLst>
          </p:cNvPr>
          <p:cNvSpPr txBox="1"/>
          <p:nvPr/>
        </p:nvSpPr>
        <p:spPr>
          <a:xfrm>
            <a:off x="736600" y="431800"/>
            <a:ext cx="10668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ML </a:t>
            </a:r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研究：第三個 </a:t>
            </a:r>
            <a:r>
              <a:rPr lang="en-US" altLang="zh-TW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引擎，但要過關才上線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2B2134F-2E31-8E67-6F3D-7A7E44C39C5D}"/>
              </a:ext>
            </a:extLst>
          </p:cNvPr>
          <p:cNvSpPr txBox="1"/>
          <p:nvPr/>
        </p:nvSpPr>
        <p:spPr>
          <a:xfrm>
            <a:off x="762000" y="990600"/>
            <a:ext cx="10414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LightGBM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適合現有表格資料；目標是小幅穩定 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edge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，不是幻想 </a:t>
            </a:r>
            <a:r>
              <a:rPr lang="en-US" altLang="zh-TW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70% </a:t>
            </a:r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勝率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018E8B-80E5-0CC4-3F93-7D0220BD40B7}"/>
              </a:ext>
            </a:extLst>
          </p:cNvPr>
          <p:cNvSpPr/>
          <p:nvPr/>
        </p:nvSpPr>
        <p:spPr>
          <a:xfrm>
            <a:off x="1079500" y="2032000"/>
            <a:ext cx="1397000" cy="7620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M0
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特徵倉</a:t>
            </a: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F147EE5-9D81-564B-AB0D-8C6AC88997A5}"/>
              </a:ext>
            </a:extLst>
          </p:cNvPr>
          <p:cNvCxnSpPr/>
          <p:nvPr/>
        </p:nvCxnSpPr>
        <p:spPr>
          <a:xfrm>
            <a:off x="2476500" y="2413000"/>
            <a:ext cx="3175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A23A99DD-2369-ED5A-571D-ADCBC1A25A11}"/>
              </a:ext>
            </a:extLst>
          </p:cNvPr>
          <p:cNvSpPr/>
          <p:nvPr/>
        </p:nvSpPr>
        <p:spPr>
          <a:xfrm>
            <a:off x="2794000" y="2032000"/>
            <a:ext cx="1397000" cy="762000"/>
          </a:xfrm>
          <a:prstGeom prst="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M1
AUC &gt; 0.53</a:t>
            </a:r>
            <a:endParaRPr lang="zh-TW" altLang="en-US" sz="110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7A50CE56-3E9B-CFFD-5704-D376ED1779E4}"/>
              </a:ext>
            </a:extLst>
          </p:cNvPr>
          <p:cNvCxnSpPr/>
          <p:nvPr/>
        </p:nvCxnSpPr>
        <p:spPr>
          <a:xfrm>
            <a:off x="4191000" y="2413000"/>
            <a:ext cx="3175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3AA55479-F57D-C380-3B70-FA39526BE729}"/>
              </a:ext>
            </a:extLst>
          </p:cNvPr>
          <p:cNvSpPr/>
          <p:nvPr/>
        </p:nvSpPr>
        <p:spPr>
          <a:xfrm>
            <a:off x="4508500" y="2032000"/>
            <a:ext cx="1397000" cy="762000"/>
          </a:xfrm>
          <a:prstGeom prst="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M2
SHAP 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拆解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102B7F2-23E5-CACA-9F47-4B1D94D298FE}"/>
              </a:ext>
            </a:extLst>
          </p:cNvPr>
          <p:cNvCxnSpPr/>
          <p:nvPr/>
        </p:nvCxnSpPr>
        <p:spPr>
          <a:xfrm>
            <a:off x="5905500" y="2413000"/>
            <a:ext cx="3175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5964707-F1CB-2DB5-D3F9-287B61DDB9B8}"/>
              </a:ext>
            </a:extLst>
          </p:cNvPr>
          <p:cNvSpPr/>
          <p:nvPr/>
        </p:nvSpPr>
        <p:spPr>
          <a:xfrm>
            <a:off x="6223000" y="2032000"/>
            <a:ext cx="1397000" cy="762000"/>
          </a:xfrm>
          <a:prstGeom prst="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M3
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含成本對打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7623957-3ED8-588D-C87A-E978E0C464E4}"/>
              </a:ext>
            </a:extLst>
          </p:cNvPr>
          <p:cNvCxnSpPr/>
          <p:nvPr/>
        </p:nvCxnSpPr>
        <p:spPr>
          <a:xfrm>
            <a:off x="7620000" y="2413000"/>
            <a:ext cx="3175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E78B170B-FF9E-4A67-F4E8-2242233230BD}"/>
              </a:ext>
            </a:extLst>
          </p:cNvPr>
          <p:cNvSpPr/>
          <p:nvPr/>
        </p:nvSpPr>
        <p:spPr>
          <a:xfrm>
            <a:off x="7937500" y="2032000"/>
            <a:ext cx="1397000" cy="762000"/>
          </a:xfrm>
          <a:prstGeom prst="rect">
            <a:avLst/>
          </a:prstGeom>
          <a:solidFill>
            <a:srgbClr val="FFFFFF"/>
          </a:solidFill>
          <a:ln w="1778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M4
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紙上實盤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AAF55086-F07C-83DB-C8B9-FCAABAA90BE5}"/>
              </a:ext>
            </a:extLst>
          </p:cNvPr>
          <p:cNvCxnSpPr/>
          <p:nvPr/>
        </p:nvCxnSpPr>
        <p:spPr>
          <a:xfrm>
            <a:off x="9334500" y="2413000"/>
            <a:ext cx="317500" cy="0"/>
          </a:xfrm>
          <a:prstGeom prst="line">
            <a:avLst/>
          </a:prstGeom>
          <a:ln w="1524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FFEDA87-E8D6-F364-74EA-95ABC91EB973}"/>
              </a:ext>
            </a:extLst>
          </p:cNvPr>
          <p:cNvSpPr/>
          <p:nvPr/>
        </p:nvSpPr>
        <p:spPr>
          <a:xfrm>
            <a:off x="9652000" y="2032000"/>
            <a:ext cx="1397000" cy="762000"/>
          </a:xfrm>
          <a:prstGeom prst="rect">
            <a:avLst/>
          </a:prstGeom>
          <a:solidFill>
            <a:srgbClr val="FFFFFF"/>
          </a:solidFill>
          <a:ln w="1778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TW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M5
</a:t>
            </a:r>
            <a:r>
              <a:rPr lang="zh-TW" altLang="en-US" sz="11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上線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56B69B8-C9C3-7AD6-3419-30929C017B9B}"/>
              </a:ext>
            </a:extLst>
          </p:cNvPr>
          <p:cNvSpPr/>
          <p:nvPr/>
        </p:nvSpPr>
        <p:spPr>
          <a:xfrm>
            <a:off x="1206500" y="3810000"/>
            <a:ext cx="29845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E6DE22-38EA-8BE7-3A7F-05C38B32C57F}"/>
              </a:ext>
            </a:extLst>
          </p:cNvPr>
          <p:cNvSpPr/>
          <p:nvPr/>
        </p:nvSpPr>
        <p:spPr>
          <a:xfrm>
            <a:off x="1206500" y="3810000"/>
            <a:ext cx="63500" cy="1460500"/>
          </a:xfrm>
          <a:prstGeom prst="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5164282-3D17-FBB4-4F6B-F3549284BEC1}"/>
              </a:ext>
            </a:extLst>
          </p:cNvPr>
          <p:cNvSpPr txBox="1"/>
          <p:nvPr/>
        </p:nvSpPr>
        <p:spPr>
          <a:xfrm>
            <a:off x="1435100" y="3987800"/>
            <a:ext cx="26289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可行原因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498D821-3886-55B6-EA5A-9D6E35B5028D}"/>
              </a:ext>
            </a:extLst>
          </p:cNvPr>
          <p:cNvSpPr txBox="1"/>
          <p:nvPr/>
        </p:nvSpPr>
        <p:spPr>
          <a:xfrm>
            <a:off x="1435100" y="4368800"/>
            <a:ext cx="26035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× 15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幣資料、恐懼貪婪、新聞情緒都已在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DB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；開源工具、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CPU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即可訓練。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D765FA2-4DD8-3C37-4D1C-BFF0C6E3E948}"/>
              </a:ext>
            </a:extLst>
          </p:cNvPr>
          <p:cNvSpPr/>
          <p:nvPr/>
        </p:nvSpPr>
        <p:spPr>
          <a:xfrm>
            <a:off x="4635500" y="3810000"/>
            <a:ext cx="29845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8870FB-857F-17BC-9306-E8CA911F3100}"/>
              </a:ext>
            </a:extLst>
          </p:cNvPr>
          <p:cNvSpPr/>
          <p:nvPr/>
        </p:nvSpPr>
        <p:spPr>
          <a:xfrm>
            <a:off x="4635500" y="3810000"/>
            <a:ext cx="63500" cy="14605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8C6C7CD-4A7E-DECC-0EE4-7B7F92E6E4D7}"/>
              </a:ext>
            </a:extLst>
          </p:cNvPr>
          <p:cNvSpPr txBox="1"/>
          <p:nvPr/>
        </p:nvSpPr>
        <p:spPr>
          <a:xfrm>
            <a:off x="4864100" y="3987800"/>
            <a:ext cx="26289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方法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366E8F2-7B8C-368E-4C10-B03FF004755D}"/>
              </a:ext>
            </a:extLst>
          </p:cNvPr>
          <p:cNvSpPr txBox="1"/>
          <p:nvPr/>
        </p:nvSpPr>
        <p:spPr>
          <a:xfrm>
            <a:off x="4864100" y="4368800"/>
            <a:ext cx="2603500" cy="53604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LightGBM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二分類；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30-40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個特徵；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purged walk-forward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5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日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embargo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；不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shuffle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B2746B8-6E44-11D1-2B9B-41CA1143AA04}"/>
              </a:ext>
            </a:extLst>
          </p:cNvPr>
          <p:cNvSpPr/>
          <p:nvPr/>
        </p:nvSpPr>
        <p:spPr>
          <a:xfrm>
            <a:off x="8064500" y="3810000"/>
            <a:ext cx="29845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E241BC-7411-0A16-F140-280C771EE489}"/>
              </a:ext>
            </a:extLst>
          </p:cNvPr>
          <p:cNvSpPr/>
          <p:nvPr/>
        </p:nvSpPr>
        <p:spPr>
          <a:xfrm>
            <a:off x="8064500" y="3810000"/>
            <a:ext cx="63500" cy="14605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142E90C-21ED-919E-8DA4-F0FB6A4DDA42}"/>
              </a:ext>
            </a:extLst>
          </p:cNvPr>
          <p:cNvSpPr txBox="1"/>
          <p:nvPr/>
        </p:nvSpPr>
        <p:spPr>
          <a:xfrm>
            <a:off x="8293100" y="3987800"/>
            <a:ext cx="26289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Go / No-Go</a:t>
            </a:r>
            <a:endParaRPr lang="zh-TW" altLang="en-US" sz="1350" b="1">
              <a:solidFill>
                <a:srgbClr val="0F172A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C8A2F658-707B-82E7-94D1-0AF58D522D4B}"/>
              </a:ext>
            </a:extLst>
          </p:cNvPr>
          <p:cNvSpPr txBox="1"/>
          <p:nvPr/>
        </p:nvSpPr>
        <p:spPr>
          <a:xfrm>
            <a:off x="8293100" y="4368800"/>
            <a:ext cx="26035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M1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M3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M4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任一關不過就停；工具與特徵倉仍可留給規則式使用。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7157303-254E-A231-92E8-49CC738303B3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8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0332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4C41FE0-F65B-0318-24F1-8744BB1554FD}"/>
              </a:ext>
            </a:extLst>
          </p:cNvPr>
          <p:cNvSpPr txBox="1"/>
          <p:nvPr/>
        </p:nvSpPr>
        <p:spPr>
          <a:xfrm>
            <a:off x="736600" y="431800"/>
            <a:ext cx="10668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240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未來規劃：六大發展方向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9A70514-A68D-7411-C5BD-69E3A55B48AD}"/>
              </a:ext>
            </a:extLst>
          </p:cNvPr>
          <p:cNvSpPr txBox="1"/>
          <p:nvPr/>
        </p:nvSpPr>
        <p:spPr>
          <a:xfrm>
            <a:off x="762000" y="990600"/>
            <a:ext cx="10414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10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先做核心準度，再補產品閉環、營運、安全與體驗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39AA77-6777-1BD3-0EF4-EED07E937A32}"/>
              </a:ext>
            </a:extLst>
          </p:cNvPr>
          <p:cNvSpPr/>
          <p:nvPr/>
        </p:nvSpPr>
        <p:spPr>
          <a:xfrm>
            <a:off x="825500" y="1778000"/>
            <a:ext cx="3175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C7E5D5-15BD-1024-0E21-71DC4ECDE6BB}"/>
              </a:ext>
            </a:extLst>
          </p:cNvPr>
          <p:cNvSpPr/>
          <p:nvPr/>
        </p:nvSpPr>
        <p:spPr>
          <a:xfrm>
            <a:off x="825500" y="1778000"/>
            <a:ext cx="63500" cy="1117600"/>
          </a:xfrm>
          <a:prstGeom prst="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3D2943F-B6FE-972F-D221-45F807C00153}"/>
              </a:ext>
            </a:extLst>
          </p:cNvPr>
          <p:cNvSpPr txBox="1"/>
          <p:nvPr/>
        </p:nvSpPr>
        <p:spPr>
          <a:xfrm>
            <a:off x="1054100" y="19558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A. </a:t>
            </a:r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訊號準度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B99F48D-D06D-409C-8B24-C8EF126A7752}"/>
              </a:ext>
            </a:extLst>
          </p:cNvPr>
          <p:cNvSpPr txBox="1"/>
          <p:nvPr/>
        </p:nvSpPr>
        <p:spPr>
          <a:xfrm>
            <a:off x="1054100" y="2336800"/>
            <a:ext cx="27940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規則式增準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Phase A-D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ML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LightGBM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B4BB9F-7F14-A334-737D-836BCBA0DBB4}"/>
              </a:ext>
            </a:extLst>
          </p:cNvPr>
          <p:cNvSpPr/>
          <p:nvPr/>
        </p:nvSpPr>
        <p:spPr>
          <a:xfrm>
            <a:off x="4508500" y="1778000"/>
            <a:ext cx="3175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D7C8FE-C8D5-5AE0-E1A8-417C6C8FE268}"/>
              </a:ext>
            </a:extLst>
          </p:cNvPr>
          <p:cNvSpPr/>
          <p:nvPr/>
        </p:nvSpPr>
        <p:spPr>
          <a:xfrm>
            <a:off x="4508500" y="1778000"/>
            <a:ext cx="63500" cy="1117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FE52DFD-FF91-62B7-9D10-185A95920D56}"/>
              </a:ext>
            </a:extLst>
          </p:cNvPr>
          <p:cNvSpPr txBox="1"/>
          <p:nvPr/>
        </p:nvSpPr>
        <p:spPr>
          <a:xfrm>
            <a:off x="4737100" y="19558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B. </a:t>
            </a:r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產品閉環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A77E0AD-D71B-2B94-6944-FAB37DF8FEA8}"/>
              </a:ext>
            </a:extLst>
          </p:cNvPr>
          <p:cNvSpPr txBox="1"/>
          <p:nvPr/>
        </p:nvSpPr>
        <p:spPr>
          <a:xfrm>
            <a:off x="4737100" y="2336800"/>
            <a:ext cx="27940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到價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訊號通知、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每日晨報、投資組合健檢。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016859-7ED1-2C87-E47B-6C143118B83A}"/>
              </a:ext>
            </a:extLst>
          </p:cNvPr>
          <p:cNvSpPr/>
          <p:nvPr/>
        </p:nvSpPr>
        <p:spPr>
          <a:xfrm>
            <a:off x="8191500" y="1778000"/>
            <a:ext cx="3175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3F5DD8-C36B-6281-81B4-73A6B0D77C53}"/>
              </a:ext>
            </a:extLst>
          </p:cNvPr>
          <p:cNvSpPr/>
          <p:nvPr/>
        </p:nvSpPr>
        <p:spPr>
          <a:xfrm>
            <a:off x="8191500" y="1778000"/>
            <a:ext cx="63500" cy="11176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218E442-72D6-4E44-E045-272A197A89B4}"/>
              </a:ext>
            </a:extLst>
          </p:cNvPr>
          <p:cNvSpPr txBox="1"/>
          <p:nvPr/>
        </p:nvSpPr>
        <p:spPr>
          <a:xfrm>
            <a:off x="8420100" y="19558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C. </a:t>
            </a:r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營運與安全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1DEAC0F-35D6-4A44-C91A-AA873208C221}"/>
              </a:ext>
            </a:extLst>
          </p:cNvPr>
          <p:cNvSpPr txBox="1"/>
          <p:nvPr/>
        </p:nvSpPr>
        <p:spPr>
          <a:xfrm>
            <a:off x="8420100" y="23368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named tunnel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、服務化、安全強化、使用分析。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9BA164-439B-C47E-93B8-B5946AEABEC6}"/>
              </a:ext>
            </a:extLst>
          </p:cNvPr>
          <p:cNvSpPr/>
          <p:nvPr/>
        </p:nvSpPr>
        <p:spPr>
          <a:xfrm>
            <a:off x="825500" y="3746500"/>
            <a:ext cx="3175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308F8F-92BD-E4C1-42DD-A4A40F73080F}"/>
              </a:ext>
            </a:extLst>
          </p:cNvPr>
          <p:cNvSpPr/>
          <p:nvPr/>
        </p:nvSpPr>
        <p:spPr>
          <a:xfrm>
            <a:off x="825500" y="3746500"/>
            <a:ext cx="63500" cy="11176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857B7B0-437B-5A0D-CF48-E2F4192C276B}"/>
              </a:ext>
            </a:extLst>
          </p:cNvPr>
          <p:cNvSpPr txBox="1"/>
          <p:nvPr/>
        </p:nvSpPr>
        <p:spPr>
          <a:xfrm>
            <a:off x="1054100" y="39243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D. AI / </a:t>
            </a:r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內容深化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E726A54-1AA5-F587-9689-6DCED6515AA7}"/>
              </a:ext>
            </a:extLst>
          </p:cNvPr>
          <p:cNvSpPr txBox="1"/>
          <p:nvPr/>
        </p:nvSpPr>
        <p:spPr>
          <a:xfrm>
            <a:off x="1054100" y="43053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GPT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新聞標註、詞庫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問答庫管理化、小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Q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評分。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EB9C48-F375-1A32-CC55-D6C2738A9B79}"/>
              </a:ext>
            </a:extLst>
          </p:cNvPr>
          <p:cNvSpPr/>
          <p:nvPr/>
        </p:nvSpPr>
        <p:spPr>
          <a:xfrm>
            <a:off x="4508500" y="3746500"/>
            <a:ext cx="3175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628DCE-20A7-F8DB-F562-D83B91B69AC6}"/>
              </a:ext>
            </a:extLst>
          </p:cNvPr>
          <p:cNvSpPr/>
          <p:nvPr/>
        </p:nvSpPr>
        <p:spPr>
          <a:xfrm>
            <a:off x="4508500" y="3746500"/>
            <a:ext cx="63500" cy="1117600"/>
          </a:xfrm>
          <a:prstGeom prst="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DD46742-93B3-6A2D-BFC3-F95BA56F4522}"/>
              </a:ext>
            </a:extLst>
          </p:cNvPr>
          <p:cNvSpPr txBox="1"/>
          <p:nvPr/>
        </p:nvSpPr>
        <p:spPr>
          <a:xfrm>
            <a:off x="4737100" y="39243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E. </a:t>
            </a:r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前台體驗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893F324-8FB7-2EAB-420B-D82CE03012AA}"/>
              </a:ext>
            </a:extLst>
          </p:cNvPr>
          <p:cNvSpPr txBox="1"/>
          <p:nvPr/>
        </p:nvSpPr>
        <p:spPr>
          <a:xfrm>
            <a:off x="4737100" y="43053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簡易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/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專業模式、新手導覽、名詞辭典、圖表擴充。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590718F-8BE3-0E58-C1F7-D00A220A6834}"/>
              </a:ext>
            </a:extLst>
          </p:cNvPr>
          <p:cNvSpPr/>
          <p:nvPr/>
        </p:nvSpPr>
        <p:spPr>
          <a:xfrm>
            <a:off x="8191500" y="3746500"/>
            <a:ext cx="3175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412887-6B16-3EE2-DF79-9F02EAC20906}"/>
              </a:ext>
            </a:extLst>
          </p:cNvPr>
          <p:cNvSpPr/>
          <p:nvPr/>
        </p:nvSpPr>
        <p:spPr>
          <a:xfrm>
            <a:off x="8191500" y="3746500"/>
            <a:ext cx="63500" cy="11176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E6BF93AE-EC4A-F721-CDD3-E77B365A4235}"/>
              </a:ext>
            </a:extLst>
          </p:cNvPr>
          <p:cNvSpPr txBox="1"/>
          <p:nvPr/>
        </p:nvSpPr>
        <p:spPr>
          <a:xfrm>
            <a:off x="8420100" y="39243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F. </a:t>
            </a:r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宏觀面板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8175E90-721D-3272-C34B-3458F5DF4C56}"/>
              </a:ext>
            </a:extLst>
          </p:cNvPr>
          <p:cNvSpPr txBox="1"/>
          <p:nvPr/>
        </p:nvSpPr>
        <p:spPr>
          <a:xfrm>
            <a:off x="8420100" y="4305300"/>
            <a:ext cx="27940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改為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BTC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相關性溫度計後再上架，價值待議。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5998832-FFB7-9932-1A48-839DC4B65768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9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8069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4F9678-3537-2511-9DE5-5018B85E8ADE}"/>
              </a:ext>
            </a:extLst>
          </p:cNvPr>
          <p:cNvSpPr/>
          <p:nvPr/>
        </p:nvSpPr>
        <p:spPr>
          <a:xfrm>
            <a:off x="0" y="0"/>
            <a:ext cx="12192000" cy="14986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3E5C9B5-64CD-7C0D-2534-E771323C185B}"/>
              </a:ext>
            </a:extLst>
          </p:cNvPr>
          <p:cNvSpPr txBox="1"/>
          <p:nvPr/>
        </p:nvSpPr>
        <p:spPr>
          <a:xfrm>
            <a:off x="762000" y="482600"/>
            <a:ext cx="10795000" cy="4360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2500" b="1">
                <a:solidFill>
                  <a:srgbClr val="FFFF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結論：讓「可信訊號」成為前台主軸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77BF41F-C666-0FB4-914B-8E25704C030D}"/>
              </a:ext>
            </a:extLst>
          </p:cNvPr>
          <p:cNvSpPr txBox="1"/>
          <p:nvPr/>
        </p:nvSpPr>
        <p:spPr>
          <a:xfrm>
            <a:off x="787400" y="990600"/>
            <a:ext cx="10414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200">
                <a:solidFill>
                  <a:srgbClr val="E2E8F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平台底座已完整，下一步是把可驗證策略產品化。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EDCCDA-54F5-FB39-8CAF-662795020669}"/>
              </a:ext>
            </a:extLst>
          </p:cNvPr>
          <p:cNvSpPr/>
          <p:nvPr/>
        </p:nvSpPr>
        <p:spPr>
          <a:xfrm>
            <a:off x="952500" y="2159000"/>
            <a:ext cx="3175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AB357C-7B4A-6D33-5508-537C31A39AB2}"/>
              </a:ext>
            </a:extLst>
          </p:cNvPr>
          <p:cNvSpPr/>
          <p:nvPr/>
        </p:nvSpPr>
        <p:spPr>
          <a:xfrm>
            <a:off x="952500" y="2159000"/>
            <a:ext cx="63500" cy="1524000"/>
          </a:xfrm>
          <a:prstGeom prst="rect">
            <a:avLst/>
          </a:prstGeom>
          <a:solidFill>
            <a:srgbClr val="14B8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61D290-9076-7CB5-606A-0EB0D9A3CCBD}"/>
              </a:ext>
            </a:extLst>
          </p:cNvPr>
          <p:cNvSpPr txBox="1"/>
          <p:nvPr/>
        </p:nvSpPr>
        <p:spPr>
          <a:xfrm>
            <a:off x="1181100" y="23368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</a:t>
            </a:r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立即做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9D42D17-89A3-FAC2-C3B3-1E5BC55C7516}"/>
              </a:ext>
            </a:extLst>
          </p:cNvPr>
          <p:cNvSpPr txBox="1"/>
          <p:nvPr/>
        </p:nvSpPr>
        <p:spPr>
          <a:xfrm>
            <a:off x="1181100" y="27178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Phase A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：動量策略上前台；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6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因子降級為教學分析。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C4035F3-E1D5-EBA9-E70E-9ADFF21D16F7}"/>
              </a:ext>
            </a:extLst>
          </p:cNvPr>
          <p:cNvSpPr/>
          <p:nvPr/>
        </p:nvSpPr>
        <p:spPr>
          <a:xfrm>
            <a:off x="4508500" y="2159000"/>
            <a:ext cx="3175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C81157-706F-BA9D-8AAB-307717AC8798}"/>
              </a:ext>
            </a:extLst>
          </p:cNvPr>
          <p:cNvSpPr/>
          <p:nvPr/>
        </p:nvSpPr>
        <p:spPr>
          <a:xfrm>
            <a:off x="4508500" y="2159000"/>
            <a:ext cx="63500" cy="1524000"/>
          </a:xfrm>
          <a:prstGeom prst="rect">
            <a:avLst/>
          </a:prstGeom>
          <a:solidFill>
            <a:srgbClr val="7C3A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05471EF-E76D-CB9D-5DA1-B393E7B6D1DE}"/>
              </a:ext>
            </a:extLst>
          </p:cNvPr>
          <p:cNvSpPr txBox="1"/>
          <p:nvPr/>
        </p:nvSpPr>
        <p:spPr>
          <a:xfrm>
            <a:off x="4737100" y="23368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</a:t>
            </a:r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接著做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B9ED80C-6E36-D268-ADE1-A0C0F08A0434}"/>
              </a:ext>
            </a:extLst>
          </p:cNvPr>
          <p:cNvSpPr txBox="1"/>
          <p:nvPr/>
        </p:nvSpPr>
        <p:spPr>
          <a:xfrm>
            <a:off x="4737100" y="27178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Phase B-D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：因子手術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 walk-forward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；達標才切換正式訊號。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B23506-0781-6885-CAEB-8510F1A7B67F}"/>
              </a:ext>
            </a:extLst>
          </p:cNvPr>
          <p:cNvSpPr/>
          <p:nvPr/>
        </p:nvSpPr>
        <p:spPr>
          <a:xfrm>
            <a:off x="8064500" y="2159000"/>
            <a:ext cx="3175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E68F54-752F-C35E-8EEC-CA22BDA0B5FD}"/>
              </a:ext>
            </a:extLst>
          </p:cNvPr>
          <p:cNvSpPr/>
          <p:nvPr/>
        </p:nvSpPr>
        <p:spPr>
          <a:xfrm>
            <a:off x="8064500" y="2159000"/>
            <a:ext cx="63500" cy="1524000"/>
          </a:xfrm>
          <a:prstGeom prst="rect">
            <a:avLst/>
          </a:prstGeom>
          <a:solidFill>
            <a:srgbClr val="F59E0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DC0EAF0-20A4-D70D-18A7-7A3DCF012471}"/>
              </a:ext>
            </a:extLst>
          </p:cNvPr>
          <p:cNvSpPr txBox="1"/>
          <p:nvPr/>
        </p:nvSpPr>
        <p:spPr>
          <a:xfrm>
            <a:off x="8293100" y="2336800"/>
            <a:ext cx="2819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3. </a:t>
            </a:r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再啟動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4898C04-60AD-1E27-09DA-E0CC2AFDFAE7}"/>
              </a:ext>
            </a:extLst>
          </p:cNvPr>
          <p:cNvSpPr txBox="1"/>
          <p:nvPr/>
        </p:nvSpPr>
        <p:spPr>
          <a:xfrm>
            <a:off x="8293100" y="2717800"/>
            <a:ext cx="27940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ML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研究：等規則式地基完成後，用 </a:t>
            </a:r>
            <a:r>
              <a:rPr lang="en-US" altLang="zh-TW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Go / No-Go </a:t>
            </a:r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管控投入。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62CC37-8F15-3103-D9DF-0FAAB7C18895}"/>
              </a:ext>
            </a:extLst>
          </p:cNvPr>
          <p:cNvSpPr/>
          <p:nvPr/>
        </p:nvSpPr>
        <p:spPr>
          <a:xfrm>
            <a:off x="2730500" y="4381500"/>
            <a:ext cx="6731000" cy="107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AD2E56-1EA4-02F9-AD91-6CAFFE56ACB2}"/>
              </a:ext>
            </a:extLst>
          </p:cNvPr>
          <p:cNvSpPr/>
          <p:nvPr/>
        </p:nvSpPr>
        <p:spPr>
          <a:xfrm>
            <a:off x="2730500" y="4381500"/>
            <a:ext cx="63500" cy="10795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033D28F-7004-42F4-84B0-EA62393DA0F3}"/>
              </a:ext>
            </a:extLst>
          </p:cNvPr>
          <p:cNvSpPr txBox="1"/>
          <p:nvPr/>
        </p:nvSpPr>
        <p:spPr>
          <a:xfrm>
            <a:off x="2959100" y="4559300"/>
            <a:ext cx="6375400" cy="2590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350" b="1">
                <a:solidFill>
                  <a:srgbClr val="0F172A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關鍵原則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487D0635-54A0-2D97-6B92-8225CF8659AC}"/>
              </a:ext>
            </a:extLst>
          </p:cNvPr>
          <p:cNvSpPr txBox="1"/>
          <p:nvPr/>
        </p:nvSpPr>
        <p:spPr>
          <a:xfrm>
            <a:off x="2959100" y="4940300"/>
            <a:ext cx="6350000" cy="2128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TW" altLang="en-US" sz="1050">
                <a:solidFill>
                  <a:srgbClr val="475569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所有新訊號必須過樣本外驗證；未達門檻不切換上線。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20F6249-D32F-678A-2003-C700FD0F7681}"/>
              </a:ext>
            </a:extLst>
          </p:cNvPr>
          <p:cNvSpPr txBox="1"/>
          <p:nvPr/>
        </p:nvSpPr>
        <p:spPr>
          <a:xfrm>
            <a:off x="762000" y="6426200"/>
            <a:ext cx="10414000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crypto-quant </a:t>
            </a:r>
            <a:r>
              <a:rPr lang="zh-TW" altLang="en-US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文件摘要 </a:t>
            </a:r>
            <a:r>
              <a:rPr lang="en-US" altLang="zh-TW" sz="800">
                <a:solidFill>
                  <a:srgbClr val="64748B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2026-07-08 · 10</a:t>
            </a:r>
            <a:endParaRPr lang="zh-TW" altLang="en-US" sz="800">
              <a:solidFill>
                <a:srgbClr val="64748B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3953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</Words>
  <Application>Microsoft Office PowerPoint</Application>
  <PresentationFormat>寬螢幕</PresentationFormat>
  <Paragraphs>133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Microsoft JhengHei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2026-07-08T07:07:49Z</dcterms:created>
  <dcterms:modified xsi:type="dcterms:W3CDTF">2026-07-08T07:15:16Z</dcterms:modified>
</cp:coreProperties>
</file>